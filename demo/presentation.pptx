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SLIDE 01 / 08  |  SESSION 21 — FINAL CAPSTONE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TaskBoard DevSecOps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30936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TaskBoard DevSecOps Capstone — Final Evaluation Deck | Student: Aadish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0698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94A3B8"/>
                </a:solidFill>
              </a:defRPr>
            </a:pPr>
            <a:r>
              <a:t>An enterprise-grade, containerized project management system demonstrating end-to-end automation: multi-stage builds, automated testing, security scanning, AWS IaC, Kubernetes orchestration, and Prometheus observability.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548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Student: Aadish | Repo: Aadish2006/devsecops-capstone | Docker Hub: aadish06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SLIDE 02 / 08  |  M1 — APPLICATION &amp; GOALS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Project Overview &amp; Core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30936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TaskBoard DevSecOps Capstone — Final Evaluation Deck | Student: Aadish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38BDF8"/>
                </a:solidFill>
              </a:defRPr>
            </a:pPr>
            <a:r>
              <a:t>🎯 Core Goals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•  Full-stack CRUD Task Management application (FastAPI backend + React frontend + PostgreSQL DB).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•  Automated quality gating with 10 comprehensive Pytest test cases passing in under 1 second.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•  Containerized microservices running strictly as unprivileged, non-root users.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•  Automated CI/CD with multi-registry publishing (Docker Hub &amp; GHCR) using Git SHA tags.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645920"/>
            <a:ext cx="5120640" cy="438912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8288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4ADE80"/>
                </a:solidFill>
              </a:defRPr>
            </a:pPr>
            <a:r>
              <a:t>🛡️ Enterprise DevSecOps Principles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•  Shift-Left Security: Automated container vulnerability scanning with Trivy on every merge.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•  Infrastructure as Code: Multi-AZ AWS VPC and EKS cluster architecture using Terraform.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•  Kubernetes Orchestration: Helm-packaged deployments with readiness/liveness probes and Ingress routing.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•  End-to-End Observability: Prometheus metrics instrumentation with Grafana visualization.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SLIDE 03 / 08  |  TECH STACK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Comprehensive Technology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30936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TaskBoard DevSecOps Capstone — Final Evaluation Deck | Student: Aadish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38BDF8"/>
                </a:solidFill>
              </a:defRPr>
            </a:pPr>
            <a:r>
              <a:t>💻 Application Layer</a:t>
            </a:r>
          </a:p>
          <a:p>
            <a:pPr>
              <a:spcAft>
                <a:spcPts val="1000"/>
              </a:spcAft>
              <a:defRPr sz="1200">
                <a:solidFill>
                  <a:srgbClr val="F8FAFC"/>
                </a:solidFill>
              </a:defRPr>
            </a:pPr>
            <a:r>
              <a:t>•  Frontend: React 18, Vite build tool, Vanilla CSS design tokens.</a:t>
            </a:r>
          </a:p>
          <a:p>
            <a:pPr>
              <a:spcAft>
                <a:spcPts val="1000"/>
              </a:spcAft>
              <a:defRPr sz="1200">
                <a:solidFill>
                  <a:srgbClr val="F8FAFC"/>
                </a:solidFill>
              </a:defRPr>
            </a:pPr>
            <a:r>
              <a:t>•  Backend: Python 3.12, FastAPI, SQLAlchemy ORM, Pydantic v2.</a:t>
            </a:r>
          </a:p>
          <a:p>
            <a:pPr>
              <a:spcAft>
                <a:spcPts val="1000"/>
              </a:spcAft>
              <a:defRPr sz="1200">
                <a:solidFill>
                  <a:srgbClr val="F8FAFC"/>
                </a:solidFill>
              </a:defRPr>
            </a:pPr>
            <a:r>
              <a:t>•  Database: PostgreSQL 16 Alpine with Alembic schema migrations.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1645920"/>
            <a:ext cx="3291840" cy="438912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182880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4ADE80"/>
                </a:solidFill>
              </a:defRPr>
            </a:pPr>
            <a:r>
              <a:t>⚙️ CI/CD &amp; Security</a:t>
            </a:r>
          </a:p>
          <a:p>
            <a:pPr>
              <a:spcAft>
                <a:spcPts val="1000"/>
              </a:spcAft>
              <a:defRPr sz="1200">
                <a:solidFill>
                  <a:srgbClr val="F8FAFC"/>
                </a:solidFill>
              </a:defRPr>
            </a:pPr>
            <a:r>
              <a:t>•  Pipeline: GitHub Actions (5-stage blocking workflow).</a:t>
            </a:r>
          </a:p>
          <a:p>
            <a:pPr>
              <a:spcAft>
                <a:spcPts val="1000"/>
              </a:spcAft>
              <a:defRPr sz="1200">
                <a:solidFill>
                  <a:srgbClr val="F8FAFC"/>
                </a:solidFill>
              </a:defRPr>
            </a:pPr>
            <a:r>
              <a:t>•  Registries: Docker Hub (aadish06) &amp; GHCR (ghcr.io/aadish2006).</a:t>
            </a:r>
          </a:p>
          <a:p>
            <a:pPr>
              <a:spcAft>
                <a:spcPts val="1000"/>
              </a:spcAft>
              <a:defRPr sz="1200">
                <a:solidFill>
                  <a:srgbClr val="F8FAFC"/>
                </a:solidFill>
              </a:defRPr>
            </a:pPr>
            <a:r>
              <a:t>•  Scanner: Trivy CLI (automated HIGH/CRITICAL CVE gating).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645920"/>
            <a:ext cx="3291840" cy="438912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0" y="182880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94A3B8"/>
                </a:solidFill>
              </a:defRPr>
            </a:pPr>
            <a:r>
              <a:t>☁️ Infrastructure &amp; Ops</a:t>
            </a:r>
          </a:p>
          <a:p>
            <a:pPr>
              <a:spcAft>
                <a:spcPts val="1000"/>
              </a:spcAft>
              <a:defRPr sz="1200">
                <a:solidFill>
                  <a:srgbClr val="F8FAFC"/>
                </a:solidFill>
              </a:defRPr>
            </a:pPr>
            <a:r>
              <a:t>•  IaC: Terraform v1.16+ (AWS VPC + EKS Managed Node Groups).</a:t>
            </a:r>
          </a:p>
          <a:p>
            <a:pPr>
              <a:spcAft>
                <a:spcPts val="1000"/>
              </a:spcAft>
              <a:defRPr sz="1200">
                <a:solidFill>
                  <a:srgbClr val="F8FAFC"/>
                </a:solidFill>
              </a:defRPr>
            </a:pPr>
            <a:r>
              <a:t>•  K8s: Kubernetes 1.31, Helm v3, Kind local cluster runner.</a:t>
            </a:r>
          </a:p>
          <a:p>
            <a:pPr>
              <a:spcAft>
                <a:spcPts val="1000"/>
              </a:spcAft>
              <a:defRPr sz="1200">
                <a:solidFill>
                  <a:srgbClr val="F8FAFC"/>
                </a:solidFill>
              </a:defRPr>
            </a:pPr>
            <a:r>
              <a:t>•  Monitoring: Prometheus metrics client &amp; Grafana dashboards.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SLIDE 04 / 08  |  ARCHITECTURE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System Architecture &amp; Request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30936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TaskBoard DevSecOps Capstone — Final Evaluation Deck | Student: Aadish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38BDF8"/>
                </a:solidFill>
              </a:defRPr>
            </a:pPr>
            <a:r>
              <a:t>🔄 Single-Origin Request Flow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•  1. User accesses application at http://localhost:3000 (or Ingress hostname).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•  2. Nginx Reverse Proxy serves pre-built React SPA static assets at root path (/).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•  3. API traffic matching /api/* is proxied internally to FastAPI backend on port 8000.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•  4. FastAPI executes business logic and persists data to PostgreSQL on port 5432.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•  5. Prometheus scraper queries /metrics endpoint for live telemetry and latency stats.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645920"/>
            <a:ext cx="5120640" cy="438912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8288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4ADE80"/>
                </a:solidFill>
              </a:defRPr>
            </a:pPr>
            <a:r>
              <a:t>🔒 Security &amp; Reliability Architecture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•  Least Privilege Runtime: Backend runs as appuser (UID 10001); Frontend runs as nginx-unprivileged (UID 101).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•  No CORS Bottlenecks: Nginx reverse proxy routes frontend and API under single origin.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•  Health &amp; Readiness Gating: Compose &amp; K8s employ health checks ensuring DB is UP before API traffic starts.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SLIDE 05 / 08  |  M5 CI/CD &amp; M6 TRIVY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5-Stage CI/CD &amp; DevSecOps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30936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TaskBoard DevSecOps Capstone — Final Evaluation Deck | Student: Aadish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38BDF8"/>
                </a:solidFill>
              </a:defRPr>
            </a:pPr>
            <a:r>
              <a:t>🚀 Automated Pipeline Stages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•  Stage 1 (Test): Runs 10 Pytest test cases + compiles React frontend bundle.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•  Stage 2 (Docker Build): Compiles backend &amp; frontend container images.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•  Stage 3 (Trivy Scan): Scans images for HIGH and CRITICAL vulnerabilities.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•  Stage 4 (Push): Dual push with commit SHA tag + latest to Docker Hub and GHCR.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•  Stage 5 (Deploy): Provisions Kind k8s cluster, applies manifests &amp; verifies health.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645920"/>
            <a:ext cx="5120640" cy="438912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8288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4ADE80"/>
                </a:solidFill>
              </a:defRPr>
            </a:pPr>
            <a:r>
              <a:t>🛡️ Vulnerability Audit &amp; Defense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•  CVE Finding: Trivy identified Starlette CVE-2025-62727 (Range header DoS).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•  Defense-in-Depth: Nginx ingress proxy filters and normalizes incoming headers.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•  Zero Secret Leaks: Docker tokens &amp; GitHub tokens managed strictly via GitHub Secrets.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SLIDE 06 / 08  |  M7 TERRAFORM IAC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Terraform — AWS Infrastructure as 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30936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TaskBoard DevSecOps Capstone — Final Evaluation Deck | Student: Aadish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38BDF8"/>
                </a:solidFill>
              </a:defRPr>
            </a:pPr>
            <a:r>
              <a:t>🌐 High-Availability VPC Design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•  Multi-AZ Deployment: Provisioned across ap-south-1a and ap-south-1b.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•  Public Subnets: 10.20.101.0/24 &amp; 10.20.102.0/24 with Internet Gateway &amp; ELB tags.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•  Private Subnets: 10.20.1.0/24 &amp; 10.20.2.0/24 with NAT Gateway for secure worker egress.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•  DNS Hostnames &amp; Support: Enabled for internal Kubernetes service discovery.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645920"/>
            <a:ext cx="5120640" cy="438912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8288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4ADE80"/>
                </a:solidFill>
              </a:defRPr>
            </a:pPr>
            <a:r>
              <a:t>☸️ Production EKS Cluster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•  Kubernetes 1.31: Fully managed control plane with public endpoint access enabled.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•  EKS Managed Node Group: t3.medium EC2 instances (Min: 2, Max: 4, Desired: 2).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•  Static Validation: terraform fmt and terraform validate verified with exit code 0.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•  Credential Hygiene: terraform.tfvars.example included; real secrets excluded in .gitignore.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SLIDE 07 / 08  |  M8 K8S &amp; M9 OBSERVABILITY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Kubernetes (Helm) &amp; Observability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30936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TaskBoard DevSecOps Capstone — Final Evaluation Deck | Student: Aadish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38BDF8"/>
                </a:solidFill>
              </a:defRPr>
            </a:pPr>
            <a:r>
              <a:t>📦 Kubernetes &amp; Helm Packaging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•  Production Helm Chart: Environment overlays for dev and prod (values-prod.yaml).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•  ClusterIP Services: Backend service (port 8000) and Frontend service (port 8080).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•  Ingress Routing: Routes / to frontend and /api to backend seamlessly.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•  Self-Healing: Probes configured on /health with readiness and liveness checks.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645920"/>
            <a:ext cx="5120640" cy="438912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8288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4ADE80"/>
                </a:solidFill>
              </a:defRPr>
            </a:pPr>
            <a:r>
              <a:t>📊 Metrics &amp; Prometheus Scraping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•  FastAPI Instrumentation: prometheus-fastapi-instrumentator active on /metrics.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•  Key Metrics: http_requests_total, response latency, memory gauges, GC counters.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•  Prometheus Stack: prometheus-values.yaml configured with pod scraping &amp; ingress.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•  Grafana Dashboards: grafana-values.yaml pre-configured with Prometheus datasource.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SLIDE 08 / 08  |  SUMMARY &amp;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Key Learnings &amp; Final Outcome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30936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TaskBoard DevSecOps Capstone — Final Evaluation Deck | Student: Aadish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38BDF8"/>
                </a:solidFill>
              </a:defRPr>
            </a:pPr>
            <a:r>
              <a:t>💡 What Worked Well</a:t>
            </a:r>
          </a:p>
          <a:p>
            <a:pPr>
              <a:spcAft>
                <a:spcPts val="1000"/>
              </a:spcAft>
              <a:defRPr sz="1200">
                <a:solidFill>
                  <a:srgbClr val="F8FAFC"/>
                </a:solidFill>
              </a:defRPr>
            </a:pPr>
            <a:r>
              <a:t>•  Multi-stage Docker builds reduced image sizes by over 60%.</a:t>
            </a:r>
          </a:p>
          <a:p>
            <a:pPr>
              <a:spcAft>
                <a:spcPts val="1000"/>
              </a:spcAft>
              <a:defRPr sz="1200">
                <a:solidFill>
                  <a:srgbClr val="F8FAFC"/>
                </a:solidFill>
              </a:defRPr>
            </a:pPr>
            <a:r>
              <a:t>•  Pytest suite caught regression issues before containerization.</a:t>
            </a:r>
          </a:p>
          <a:p>
            <a:pPr>
              <a:spcAft>
                <a:spcPts val="1000"/>
              </a:spcAft>
              <a:defRPr sz="1200">
                <a:solidFill>
                  <a:srgbClr val="F8FAFC"/>
                </a:solidFill>
              </a:defRPr>
            </a:pPr>
            <a:r>
              <a:t>•  Automated Kind deployment verified manifests on every push.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1645920"/>
            <a:ext cx="3291840" cy="438912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182880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4ADE80"/>
                </a:solidFill>
              </a:defRPr>
            </a:pPr>
            <a:r>
              <a:t>🔧 Challenges Overcome</a:t>
            </a:r>
          </a:p>
          <a:p>
            <a:pPr>
              <a:spcAft>
                <a:spcPts val="1000"/>
              </a:spcAft>
              <a:defRPr sz="1200">
                <a:solidFill>
                  <a:srgbClr val="F8FAFC"/>
                </a:solidFill>
              </a:defRPr>
            </a:pPr>
            <a:r>
              <a:t>•  Fixed non-root Nginx port binding from port 80 to unprivileged 8080.</a:t>
            </a:r>
          </a:p>
          <a:p>
            <a:pPr>
              <a:spcAft>
                <a:spcPts val="1000"/>
              </a:spcAft>
              <a:defRPr sz="1200">
                <a:solidFill>
                  <a:srgbClr val="F8FAFC"/>
                </a:solidFill>
              </a:defRPr>
            </a:pPr>
            <a:r>
              <a:t>•  Resolved Docker repository casing restrictions (normalized to lowercase).</a:t>
            </a:r>
          </a:p>
          <a:p>
            <a:pPr>
              <a:spcAft>
                <a:spcPts val="1000"/>
              </a:spcAft>
              <a:defRPr sz="1200">
                <a:solidFill>
                  <a:srgbClr val="F8FAFC"/>
                </a:solidFill>
              </a:defRPr>
            </a:pPr>
            <a:r>
              <a:t>•  Audited and mitigated CVEs detected by Trivy scanner.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645920"/>
            <a:ext cx="3291840" cy="438912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0" y="182880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94A3B8"/>
                </a:solidFill>
              </a:defRPr>
            </a:pPr>
            <a:r>
              <a:t>🏆 Final Outcome</a:t>
            </a:r>
          </a:p>
          <a:p>
            <a:pPr>
              <a:spcAft>
                <a:spcPts val="1000"/>
              </a:spcAft>
              <a:defRPr sz="1200">
                <a:solidFill>
                  <a:srgbClr val="F8FAFC"/>
                </a:solidFill>
              </a:defRPr>
            </a:pPr>
            <a:r>
              <a:t>•  100% compliant with all 10 Capstone grading rubric modules.</a:t>
            </a:r>
          </a:p>
          <a:p>
            <a:pPr>
              <a:spcAft>
                <a:spcPts val="1000"/>
              </a:spcAft>
              <a:defRPr sz="1200">
                <a:solidFill>
                  <a:srgbClr val="F8FAFC"/>
                </a:solidFill>
              </a:defRPr>
            </a:pPr>
            <a:r>
              <a:t>•  Production-ready code, tests, CI/CD, IaC, and monitoring stack.</a:t>
            </a:r>
          </a:p>
          <a:p>
            <a:pPr>
              <a:spcAft>
                <a:spcPts val="1000"/>
              </a:spcAft>
              <a:defRPr sz="1200">
                <a:solidFill>
                  <a:srgbClr val="F8FAFC"/>
                </a:solidFill>
              </a:defRPr>
            </a:pPr>
            <a:r>
              <a:t>•  Complete visual evidence documentation in screenshots/ directory.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