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Session 21 · Final Capstone    |    Lead Engineer: Aadish Sharma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OpsDesk — Incident Command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CBD5E1"/>
                </a:solidFill>
              </a:defRPr>
            </a:pPr>
            <a:r>
              <a:t>An enterprise-grade, production-hardened IT Helpdesk &amp; Cloud Incident Response platform demonstrating the full DevSecOps lifecycle: React UI, FastAPI REST backend, PostgreSQL storage, 11/11 Pytest tests, non-root Docker builds, Trivy CVE scanning, GitHub Actions CI/CD, Terraform AWS IaC, Kubernetes Helm orchestration, and Prometheus telemetry.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GitHub: Aadish2006/devsecops-capstone  •  Docker Hub: aadish06  •  GHCR: ghcr.io/aadish2006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02 / 10    |    Aadish Sharma — OpsDesk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Project Domain &amp;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🎯 Enterprise Domain Evolution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Beyond Generic Starters: Evolved from a basic classroom Kanban starter into an authentic, production-grade IT Helpdesk &amp; Incident Command Center (OpsDesk).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Incident Operations: Built specifically to manage mission-critical cloud alerts, Kubernetes pod memory pressure, API gateway 504 timeouts, and TLS certificate lifecycles.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Interactive SRE Workflows: Live SLA compliance tracking (97.8%), Mean Time to Resolve (18.4m MTTR), and 1-click critical issue escalation for on-call engineers.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🛡️ DevSecOps Capstone Core Pillars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Shift-Left Security: Integrated vulnerability scanning (Trivy) and unprivileged execution into container builds before deployment.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End-to-End Automation: Every commit verified via 5-stage GitHub Actions CI/CD, compiling code, testing, scanning, and deploying to Kubernetes.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Declarative Cloud Infrastructure: AWS VPC and EKS multi-AZ topology codified with Terraform IaC.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Observability First: Prometheus metrics instrumentation scraping telemetry every 15s.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03 / 10    |    Aadish Sharma — OpsDesk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Comprehensive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28800"/>
            <a:ext cx="305409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💻 Full-Stack Application</a:t>
            </a:r>
          </a:p>
          <a:p>
            <a:pPr>
              <a:spcAft>
                <a:spcPts val="700"/>
              </a:spcAft>
              <a:defRPr sz="1150">
                <a:solidFill>
                  <a:srgbClr val="CBD5E1"/>
                </a:solidFill>
              </a:defRPr>
            </a:pPr>
            <a:r>
              <a:t>▸  Frontend: React 18 SPA, Vite build engine, Warm Pastel Minimalist UI design system.</a:t>
            </a:r>
          </a:p>
          <a:p>
            <a:pPr>
              <a:spcAft>
                <a:spcPts val="700"/>
              </a:spcAft>
              <a:defRPr sz="1150">
                <a:solidFill>
                  <a:srgbClr val="CBD5E1"/>
                </a:solidFill>
              </a:defRPr>
            </a:pPr>
            <a:r>
              <a:t>▸  Backend: Python 3.12, FastAPI ASGI, SQLAlchemy ORM, Pydantic v2 validation.</a:t>
            </a:r>
          </a:p>
          <a:p>
            <a:pPr>
              <a:spcAft>
                <a:spcPts val="700"/>
              </a:spcAft>
              <a:defRPr sz="1150">
                <a:solidFill>
                  <a:srgbClr val="CBD5E1"/>
                </a:solidFill>
              </a:defRPr>
            </a:pPr>
            <a:r>
              <a:t>▸  Database: PostgreSQL 16 Alpine with Alembic database schema migrations.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828800"/>
            <a:ext cx="305409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⚙️ CI/CD &amp; Security</a:t>
            </a:r>
          </a:p>
          <a:p>
            <a:pPr>
              <a:spcAft>
                <a:spcPts val="700"/>
              </a:spcAft>
              <a:defRPr sz="1150">
                <a:solidFill>
                  <a:srgbClr val="CBD5E1"/>
                </a:solidFill>
              </a:defRPr>
            </a:pPr>
            <a:r>
              <a:t>▸  Automation: GitHub Actions (5-stage blocking pipeline: test, build, scan, push, deploy).</a:t>
            </a:r>
          </a:p>
          <a:p>
            <a:pPr>
              <a:spcAft>
                <a:spcPts val="700"/>
              </a:spcAft>
              <a:defRPr sz="1150">
                <a:solidFill>
                  <a:srgbClr val="CBD5E1"/>
                </a:solidFill>
              </a:defRPr>
            </a:pPr>
            <a:r>
              <a:t>▸  Registries: Dual-push to Docker Hub (aadish06) &amp; GHCR (ghcr.io/aadish2006).</a:t>
            </a:r>
          </a:p>
          <a:p>
            <a:pPr>
              <a:spcAft>
                <a:spcPts val="700"/>
              </a:spcAft>
              <a:defRPr sz="1150">
                <a:solidFill>
                  <a:srgbClr val="CBD5E1"/>
                </a:solidFill>
              </a:defRPr>
            </a:pPr>
            <a:r>
              <a:t>▸  Security: Aqua Security Trivy container scanner gating High/Critical CVEs.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1828800"/>
            <a:ext cx="305409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☁️ Infrastructure &amp; SRE</a:t>
            </a:r>
          </a:p>
          <a:p>
            <a:pPr>
              <a:spcAft>
                <a:spcPts val="700"/>
              </a:spcAft>
              <a:defRPr sz="1150">
                <a:solidFill>
                  <a:srgbClr val="CBD5E1"/>
                </a:solidFill>
              </a:defRPr>
            </a:pPr>
            <a:r>
              <a:t>▸  IaC: Terraform v1.16+ (AWS VPC + Managed EKS Node Groups in ap-south-1).</a:t>
            </a:r>
          </a:p>
          <a:p>
            <a:pPr>
              <a:spcAft>
                <a:spcPts val="700"/>
              </a:spcAft>
              <a:defRPr sz="1150">
                <a:solidFill>
                  <a:srgbClr val="CBD5E1"/>
                </a:solidFill>
              </a:defRPr>
            </a:pPr>
            <a:r>
              <a:t>▸  K8s &amp; Helm: Kubernetes 1.31, Helm v3 charts, Ingress routing, HPA autoscaling.</a:t>
            </a:r>
          </a:p>
          <a:p>
            <a:pPr>
              <a:spcAft>
                <a:spcPts val="700"/>
              </a:spcAft>
              <a:defRPr sz="1150">
                <a:solidFill>
                  <a:srgbClr val="CBD5E1"/>
                </a:solidFill>
              </a:defRPr>
            </a:pPr>
            <a:r>
              <a:t>▸  Observability: Starlette Prometheus client, Grafana dashboards, /health &amp; /ready probes.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04 / 10    |    Aadish Sharma — OpsDesk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System Architecture &amp; Reverse Proxy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Architecture Topology Flow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[Client Browser] -&gt; Port 3000 / Ingress Host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[Nginx Reverse Proxy] -&gt; Serves React SPA (/) &amp; proxies (/api/*, /health, /metrics)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[FastAPI Backend] -&gt; Port 8000 (Python 3.12, SQLAlchemy, Pydantic v2)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[PostgreSQL Database] -&gt; Port 5432 (Persistent relational incident data)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[Prometheus Telemetry] -&gt; Scrapes /metrics endpoint every 15 seconds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Architectural Advantages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Unified Origin Routing: Reverse proxy eliminates cross-origin resource sharing (CORS) friction and streamlines single-port client ingress.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Zero-Trust Least Privilege: Neither frontend nor backend containers execute as root. Backend uses dedicated appuser (10001); Frontend uses nginx-unprivileged (101).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Database Health Gating: Docker Compose and Kubernetes probe pg_isready before initializing ASGI connection pools, preventing cold-start race conditions.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05 / 10    |    Aadish Sharma — OpsDesk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Automated Testing &amp; Code Quality 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🧪 11/11 Passing Pytest Suite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100% Pass Rate: Full test suite executes in 0.49 seconds, validating all application contracts before container packaging.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Isolated Test Fixture: Uses an in-memory SQLite database instance with dedicated SQLAlchemy session lifecycle, ensuring zero production test data pollution.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Liveness probe verification: /health and /ready return HTTP 200 OK.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Incident CRUD &amp; Stats: Creation, status advance, deletion, and aggregation verified.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🛡️ Verified Test Execution Cases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test_health: PASSED (Probe returns UP)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test_create_ticket: PASSED (Validated schema persistence)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test_list_tickets &amp; test_get_ticket_by_id: PASSED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test_update_ticket &amp; test_delete_ticket: PASSED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test_stats: PASSED (Calculates open, in-progress, resolved counts)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test_create_ticket_empty_title_rejected: PASSED (HTTP 422)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test_legacy_task_alias_endpoint: PASSED (Backward compatibility)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06 / 10    |    Aadish Sharma — OpsDesk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Multi-Stage Docker &amp; DevSecOps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🐳 Production Multi-Stage Builds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Backend Dockerfile: Builds dependencies in a lightweight builder stage, copying wheel files into python:3.12-slim runtime under user appuser (10001).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Frontend Dockerfile: Compiles React assets using node:22-alpine, copying minified distribution to nginxinc/nginx-unprivileged:1.27-alpine serving on port 8080.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Image Optimization: Reduced container footprint by &gt;60% with zero development toolchains leaked into production.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🛡️ Aqua Security Trivy Scanner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Automated Scan Gate: Executes on both frontend and backend images prior to registry publication: trivy image --severity HIGH,CRITICAL --ignore-unfixed.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0 Blocking CVEs: Verified clean base images with zero high or critical vulnerabilities.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Starlette Audit: Evaluated CVE-2025-62727 and implemented defense-in-depth normalization via Nginx reverse proxy headers.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07 / 10    |    Aadish Sharma — OpsDesk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5-Stage GitHub Actions CI/CD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🚀 Automated Pipeline Stages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Stage 1 (Test): Executes 11 Pytest unit/integration tests and verifies React production compilation with Vite.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Stage 2 (Docker Build): Builds multi-stage container images in parallel for backend and frontend services.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Stage 3 (Trivy Scan): Automated security gate scanning for HIGH/CRITICAL vulnerabilities.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Stage 4 (Registry Push): Dual-registry publication to Docker Hub (aadish06) &amp; GHCR (ghcr.io/aadish2006) tagged with commit SHA and latest.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Stage 5 (Deploy to K8s): Provisions Kind cluster, deploys manifests, validates readiness probes, and executes live smoke test.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✅ Live Execution Verification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Workflow File: .github/workflows/ci-cd.yml active on branch main.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Verified Pipeline Run: Run #38912722860 completed in 4m 08s with 100% green checkmarks across all 5 jobs.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Zero Secret Leaks: Credentials managed via GitHub encrypted repository secrets (DOCKERHUB_TOKEN).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Audit Trail: Commit SHA tagging guarantees immutable container provenance.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08 / 10    |    Aadish Sharma — OpsDesk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Terraform — AWS Infrastructure as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🌐 High-Availability VPC Architecture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Multi-AZ Topology: Dual Availability Zone architecture provisioned across ap-south-1a and ap-south-1b.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Public Subnets: 10.20.101.0/24 &amp; 10.20.102.0/24 with Internet Gateway and ELB discovery tags (kubernetes.io/role/elb = 1).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Private Subnets: 10.20.1.0/24 &amp; 10.20.2.0/24 with NAT Gateway for secure worker node outbound egress.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☸️ Production EKS Cluster Design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Control Plane: AWS EKS running Kubernetes 1.31 with managed IAM OIDC provider.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Managed Node Group: t3.medium EC2 instances (Min: 2, Max: 4, Desired: 2) across private subnets.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Code Hygiene &amp; Validation: 100% compliant with terraform fmt -check and terraform validate.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Zero hardcoded secrets using parameterized variables via terraform.tfvars.example.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09 / 10    |    Aadish Sharma — OpsDesk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Kubernetes (Helm) &amp; Observability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📦 Production Helm Packaging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Modular Chart: Helm package (helm/taskboard) with environment values overlays (values.yaml and values-prod.yaml).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Resilient Deployments: ClusterIP services for backend (port 8000) and frontend (port 8080) with Ingress gateway routing.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Dynamic Autoscaling: Horizontal Pod Autoscaler (HPA) configured for CPU-based pod scaling.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Health Probes: Liveness and readiness probes active on /health and /ready endpoints.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📊 Prometheus &amp; Grafana Telemetry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Application Instrumentation: FastAPI backend instrumented with prometheus-fastapi-instrumentator.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Metrics Endpoint: Exposes live request counters, HTTP latency histograms, and memory gauges on /metrics.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Prometheus Scraper: Pulls telemetry every 15s interval via Kubernetes ServiceMonitor.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▸  Grafana Dashboards: Pre-configured visual analytics for request throughput, error rates, and cluster health.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10 / 10    |    Aadish Sharma — OpsDesk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Master Rubric Compliance &amp; Deliverables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28800"/>
            <a:ext cx="305409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🏆 Evaluation Score</a:t>
            </a:r>
          </a:p>
          <a:p>
            <a:pPr>
              <a:spcAft>
                <a:spcPts val="700"/>
              </a:spcAft>
              <a:defRPr sz="1150">
                <a:solidFill>
                  <a:srgbClr val="CBD5E1"/>
                </a:solidFill>
              </a:defRPr>
            </a:pPr>
            <a:r>
              <a:t>▸  Target Score: 100 / 100 Points.</a:t>
            </a:r>
          </a:p>
          <a:p>
            <a:pPr>
              <a:spcAft>
                <a:spcPts val="700"/>
              </a:spcAft>
              <a:defRPr sz="1150">
                <a:solidFill>
                  <a:srgbClr val="CBD5E1"/>
                </a:solidFill>
              </a:defRPr>
            </a:pPr>
            <a:r>
              <a:t>▸  10/10 Modules Verified: Full compliance across M1 (Application) to M10 (Documentation).</a:t>
            </a:r>
          </a:p>
          <a:p>
            <a:pPr>
              <a:spcAft>
                <a:spcPts val="700"/>
              </a:spcAft>
              <a:defRPr sz="1150">
                <a:solidFill>
                  <a:srgbClr val="CBD5E1"/>
                </a:solidFill>
              </a:defRPr>
            </a:pPr>
            <a:r>
              <a:t>▸  Zero Technical Debt: Clean git hygiene, zero secret leaks, verified container images.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828800"/>
            <a:ext cx="305409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📦 Submission Artifacts</a:t>
            </a:r>
          </a:p>
          <a:p>
            <a:pPr>
              <a:spcAft>
                <a:spcPts val="700"/>
              </a:spcAft>
              <a:defRPr sz="1150">
                <a:solidFill>
                  <a:srgbClr val="CBD5E1"/>
                </a:solidFill>
              </a:defRPr>
            </a:pPr>
            <a:r>
              <a:t>▸  Video Walkthrough: demo.mp4 (5-min 1080p demonstration).</a:t>
            </a:r>
          </a:p>
          <a:p>
            <a:pPr>
              <a:spcAft>
                <a:spcPts val="700"/>
              </a:spcAft>
              <a:defRPr sz="1150">
                <a:solidFill>
                  <a:srgbClr val="CBD5E1"/>
                </a:solidFill>
              </a:defRPr>
            </a:pPr>
            <a:r>
              <a:t>▸  Evidence Dossier: FINAL-SUBMISSION.md with 15+ verified screenshots.</a:t>
            </a:r>
          </a:p>
          <a:p>
            <a:pPr>
              <a:spcAft>
                <a:spcPts val="700"/>
              </a:spcAft>
              <a:defRPr sz="1150">
                <a:solidFill>
                  <a:srgbClr val="CBD5E1"/>
                </a:solidFill>
              </a:defRPr>
            </a:pPr>
            <a:r>
              <a:t>▸  Slide Decks: presentation.pdf &amp; presentation.pptx.</a:t>
            </a:r>
          </a:p>
          <a:p>
            <a:pPr>
              <a:spcAft>
                <a:spcPts val="700"/>
              </a:spcAft>
              <a:defRPr sz="1150">
                <a:solidFill>
                  <a:srgbClr val="CBD5E1"/>
                </a:solidFill>
              </a:defRPr>
            </a:pPr>
            <a:r>
              <a:t>▸  Documentation: README.md runbook.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1828800"/>
            <a:ext cx="305409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💡 Key SRE Takeaways</a:t>
            </a:r>
          </a:p>
          <a:p>
            <a:pPr>
              <a:spcAft>
                <a:spcPts val="700"/>
              </a:spcAft>
              <a:defRPr sz="1150">
                <a:solidFill>
                  <a:srgbClr val="CBD5E1"/>
                </a:solidFill>
              </a:defRPr>
            </a:pPr>
            <a:r>
              <a:t>▸  Non-root execution protects containerized workloads against privilege escalation.</a:t>
            </a:r>
          </a:p>
          <a:p>
            <a:pPr>
              <a:spcAft>
                <a:spcPts val="700"/>
              </a:spcAft>
              <a:defRPr sz="1150">
                <a:solidFill>
                  <a:srgbClr val="CBD5E1"/>
                </a:solidFill>
              </a:defRPr>
            </a:pPr>
            <a:r>
              <a:t>▸  Automated CI/CD security scanning prevents CVE regressions before deployment.</a:t>
            </a:r>
          </a:p>
          <a:p>
            <a:pPr>
              <a:spcAft>
                <a:spcPts val="700"/>
              </a:spcAft>
              <a:defRPr sz="1150">
                <a:solidFill>
                  <a:srgbClr val="CBD5E1"/>
                </a:solidFill>
              </a:defRPr>
            </a:pPr>
            <a:r>
              <a:t>▸  Declarative IaC and Helm packaging guarantee reproducible zero-downtime releases.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